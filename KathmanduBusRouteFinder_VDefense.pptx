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89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64785" y="777240"/>
            <a:ext cx="1280160" cy="12801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bus_1B33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023" y="1084478"/>
            <a:ext cx="665683" cy="66568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PROJECT VIVA · TECHNICAL DEFENSE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Kathmandu Valley Public Bus Route Finder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657600"/>
            <a:ext cx="9811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Data Structures, Algorithms &amp; Testing — a complete technical walkthrough of a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dependency-free Java application for multi-criteria bus route planning.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45920" y="47091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645920" y="4709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 · No Dependencies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023360" y="47091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023360" y="4709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Pathfinding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0" y="470916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00800" y="4709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+ Collections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github.com/anush-821/Public-Bus-Route-Finder-Kathmandu-Valley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5B7EF-9A94-5B43-8688-7DDE0C57C8C8}"/>
              </a:ext>
            </a:extLst>
          </p:cNvPr>
          <p:cNvSpPr txBox="1"/>
          <p:nvPr/>
        </p:nvSpPr>
        <p:spPr>
          <a:xfrm>
            <a:off x="8939814" y="4709160"/>
            <a:ext cx="302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Anush Shiwakoti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Ankit Wasti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Suyesh</a:t>
            </a:r>
            <a:r>
              <a:rPr lang="en-US" dirty="0">
                <a:solidFill>
                  <a:schemeClr val="bg1"/>
                </a:solidFill>
              </a:rPr>
              <a:t> Raj Pandey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project, and what it must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594360" cy="59436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214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Kathmandu, Lalitpur and Bhaktapur are served by many independent operators — Sajha Yatayat, Mahanagar Yatayat, microbuses, Safa Tempos — with no published schedules, no consistent numbering, and no single source for routes, transfers or fares.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519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Commuters and tourists are left to guess at boarding points, transfer stops and fares.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1031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heck_1B33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40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1214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583680" y="28254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6812280" y="26700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Valley's bus network as a graph in plain Java (no external libraries).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83680" y="34472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6812280" y="32918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optimal journeys by four different rider preferences.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83680" y="40690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6812280" y="39136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official DoTM fare estimate — standard and 45% concession — to every plan.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3680" y="469087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6812280" y="45354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same logic through both a Swing desktop GUI and a console CLI.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53126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6812280" y="515721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 with an automated, assertion-based test suite.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9514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routing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94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Shortest Distance, Fewest Transfers, Direct-Only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0723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engine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4670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DoTM distance slabs + 45% student/senior concession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38496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station search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2394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substring, Nepali (Devanagari) script, area, or 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462686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guidance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011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Boarding, transfer and alighting instructions per leg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54864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540410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interface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784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desktop GUI and an interactive console CLI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2240280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537960" y="229514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56946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the Java Standard Library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017520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537960" y="307238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34670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JDK 11, 17, 21 or 26+ — verified with javac -version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794760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537960" y="384962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12394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LinkedHashMap-backed data keeps station/route order stable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4572000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537960" y="462686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490118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assertion suite runs via --test, no JUnit required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5349240"/>
            <a:ext cx="51663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537960" y="540410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567842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from GUI to CLI on headless/display errors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layered Java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com.kathmandu.transit — four layers, each with a single responsibility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0299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ConsoleApp.java  ·  BusFinderGUI.java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359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 &amp; Java Swing desktop GUI — zero business logic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14400" y="2862072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9260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RouteFinderService · FareCalculatorService · TransitGraph · StationDirectoryService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25526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line-continuity pathfinding, fare slabs, fuzzy station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3E5A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3758184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8221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· BusRoute · RouteSegment · JourneyLeg · JourneyPlan · VehicleType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1513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domain objects describing stops, lines and journeys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654296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4654296"/>
            <a:ext cx="16459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71830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KathmanduTransitDataLoader.java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50474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4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real Kathmandu Valley stations &amp; route dataset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6875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direction: UI → Service → Model  |  Data loader builds the Model and populates the Service's graph at startup.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relationships (model package)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65960" cy="777240"/>
          </a:xfrm>
          <a:prstGeom prst="roundRect">
            <a:avLst>
              <a:gd name="adj" fmla="val 8235"/>
            </a:avLst>
          </a:prstGeom>
          <a:solidFill>
            <a:srgbClr val="3E5A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929384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VehicleType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enum: BUS, MICROBUS,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SAFA_TEMPO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1874520"/>
            <a:ext cx="2057400" cy="777240"/>
          </a:xfrm>
          <a:prstGeom prst="roundRect">
            <a:avLst>
              <a:gd name="adj" fmla="val 823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71800" y="192938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21992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nepaliName,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lat/lng, majorHub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0" y="1874520"/>
            <a:ext cx="2331720" cy="777240"/>
          </a:xfrm>
          <a:prstGeom prst="roundRect">
            <a:avLst>
              <a:gd name="adj" fmla="val 823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03520" y="192938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BusRoute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221992"/>
            <a:ext cx="2148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operator, List&lt;Station&gt;,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vehicleType, bidirectional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18120" y="18745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09560" y="19293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RouteSegment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221992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from, to, route,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distanceKm, durationMin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52928" y="2249424"/>
            <a:ext cx="73152" cy="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65192" y="2249424"/>
            <a:ext cx="219456" cy="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65192" y="16002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has-a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71232" y="2249424"/>
            <a:ext cx="219456" cy="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16002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13916" y="2651760"/>
            <a:ext cx="0" cy="59436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94360" y="27157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329184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3E5A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166360" y="334670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JourneyLeg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639312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boarding/alighting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fareNpr, distanceKm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68796" y="2651760"/>
            <a:ext cx="0" cy="64008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46520" y="2715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03120" y="4343400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194560" y="43982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JourneyPlan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4690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destination, List&lt;JourneyLeg&gt;,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(distance, duration, fare, transfers)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68796" y="4069080"/>
            <a:ext cx="0" cy="27432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492240" y="41330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of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18120" y="3291840"/>
            <a:ext cx="2514600" cy="1737360"/>
          </a:xfrm>
          <a:prstGeom prst="roundRect">
            <a:avLst>
              <a:gd name="adj" fmla="val 368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09560" y="334670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TransitGraph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3639312"/>
            <a:ext cx="23317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LinkedHashMap&lt;String,Station&gt;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LinkedHashMap&lt;String,BusRoute&gt;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HashMap&lt;Station,List&lt;RouteSegment&gt;&gt;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HashMap&lt;Station,Set&lt;BusRoute&gt;&gt;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951976" y="2651760"/>
            <a:ext cx="0" cy="640080"/>
          </a:xfrm>
          <a:prstGeom prst="line">
            <a:avLst/>
          </a:prstGeom>
          <a:noFill/>
          <a:ln w="19050">
            <a:solidFill>
              <a:srgbClr val="9AA7B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235440" y="2715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boxes: composition (“has-a”, stored by reference and reused across routes/legs)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principles applied — with evidence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48280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(class)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model fields are private final; state is only reachable through getters.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Station, BusRoute, RouteSegment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Constructors take defensive copies; getters return Collections.unmodifiableList(...).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BusRoute.getStations()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Callers call router.findRoute(...) without knowing Dijkstra runs underneath.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RouteFinderService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safety via enums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VehicleType &amp; Preference replace error-prone string/int flags.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VehicleType, Preference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 over inheritance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JourneyPlan “has-a” List&lt;JourneyLeg&gt;; no class hierarchy needed.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JourneyPlan, BusRoute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Identity-based equals/hashCode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Equality is defined by the unique id field, enabling safe use as Map/Set keys.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Station.equals(), BusRoute.equals()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Null-safety via Optional&lt;T&gt;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findRoute() returns Optional.empty() instead of null when no path exists.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RouteFinderService.findRoute()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chosen — and why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60857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LinkedHashMap&lt;String, Station&gt;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lookup by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insertion order for deterministic UI listing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LinkedHashMap&lt;String, BusRoute&gt;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lookup by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determinism benefit for route iteration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HashMap&lt;Station, List&lt;RouteSegment&gt;&gt;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 — the graph itself; List preserves stop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HashMap&lt;Station, Set&lt;BusRoute&gt;&gt;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access, no duplicates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“which lines serve this stop” in O(1)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PriorityQueue&lt;DijkstraNode&gt;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insert/extract-min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frontier for Dijkstra's 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HashMap&lt;StateKey, Double&gt; bestCosts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the best cost found so far per (station, route)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HashMap&lt;StateKey, EdgeArrival&gt;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Predecessor map — enables path reconstruction after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transit network as a directed multi-graph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Stations. Edges = RouteSegments (one directed edge per consecutive stop pair, per route). It is a multi-graph because two different bus lines can connect the same pair of stations independently.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(Station s : route.getStations())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addStation(s);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stationRoutesMap.get(s).add(route);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forward edges, always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stops.size()-1; i++)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estimateSegmentDistance(from, to);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  = estimateSegmentDuration(dist);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adjacencyList.get(from).add(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RouteSegment(from, to, route, dist, dur));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reverse edges only if bidirectional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9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(route.isBidirectional()) { ...reverse loop...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multi-graph?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724912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routes can share a station pair with different travel times, so segments are keyed by (from, to, route) — not just (from, to).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584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compute distance/duration at build time?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9319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+ traffic-speed estimation only needs each station pair once; caching it in RouteSegment avoids recomputation on every query.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47914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isBidirectional()?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5138928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Road (CW) and Ring Road (CCW) are modelled as two separate one-directional routes instead — bidirectional is only set for lines that genuinely run both ways on the same stop sequence.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distance &amp; travel time are computed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Great-circle distance (Haversine)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860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sin²(Δφ/2) + cosφ₁·cosφ₂·sin²(Δλ/2)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2·atan2(√a, √1-a)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R · c   (R = 6371 km)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Road curvature correction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657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roadDist = straightDist × 1.35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segment distance = max(0.6 km, roadDist)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Travel duration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754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= (distanceKm / 18) × 60 + 1.5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duration = max(3 min, duration)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km/h average bus speed + 1.5 min stop dwell time, both tuned to Kathmandu traffic.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19659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icons/question_1B33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0312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360920" y="19842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straight-line × 1.35, not real road data?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69748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has no external mapping API or routing-engine dependency (by design — zero third-party libraries). Haversine distance between each pair of real station coordinates, scaled by an empirical road-curvature factor, gives a realistic estimate without needing network access or paid map services.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deliberate, documented approximation — not a bug. A GPS/GTFS-fed distance matrix is listed explicitly as future work.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Modified Dijkstra with line-continuity state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Dijkstra over stations alone cannot penalize a bus change, because a station node doesn't remember which line you arrived on. The fix: make each search state a pair.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(Station, currentBusRoute)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Initialize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926080"/>
            <a:ext cx="8732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PriorityQueue&lt;DijkstraNode&gt; ordered by cumulative cost. Start state = (origin, null route), cost 0.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4787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Expand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547872"/>
            <a:ext cx="8732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 cheapest state. For each outgoing RouteSegment, compute isTransfer = current route != null &amp;&amp; != next route.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96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Relax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169664"/>
            <a:ext cx="8732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newCost = current.cost + stepCost(preference). If it beats the best known cost for (nextStation, nextRoute), record it and push.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79145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Terminate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4791456"/>
            <a:ext cx="8732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time the destination station is popped, its cost is optimal (Dijkstra invariant — non-negative weights).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132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Reconstruct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5413248"/>
            <a:ext cx="8732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predecessor map back to the origin, then compressSegmentsIntoLegs() merges consecutive same-route segments into one JourneyLeg per transfer.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algorithm, four edge-cost formulas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per-edge cost function changes between preferences — the search itself is identical.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657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cost 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stepDuration + (isTransfer ? 7.0 : 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Minutes, plus a realistic 7-minute interchange wait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stepDistance + (isTransfer ? 0.3 : 0)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Kilometres, with a tiny nudge away from needless transfers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FEWEST_TRANSFERS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(isTransfer ? 1000 : 0) + stepDuration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penalty dominates — transfer count minimized first, time breaks 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DIRECT_ONLY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33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a Dijkstra run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scan: keep routes where both stations appear, in order, on one 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1000 for FEWEST_TRANSFERS? It only needs to exceed the largest plausible sum of per-edge durations in this dataset, so the optimizer always prefers one fewer transfer over any amount of extra riding time.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space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 (S·R + E) · log(S·R) 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stations, R = routes touching a station, E = edges (RouteSegments). Each (station, route) pair is a distinct heap entry; PriorityQueue gives O(log n) push/pop.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5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 S·R 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788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bestCosts and predecessors maps each hold at most one entry per (station, route) state reached; the adjacency list itself is O(E).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EF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practice, on this dataset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stations × 10 routes bounds the state space at a few hundred nodes — the search completes in a fraction of a millisecond. The same code scales to a full city-wide GTFS feed (thousands of stops) without algorithmic changes; only the constant factor grows.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ENGINE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DoTM fare slabs — and the edge cases handled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4846320" cy="285292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Concession (45%)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3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33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20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A5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709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calculateStudentFare(fare):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discounted = round(fare × 0.55)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max(11, discounted)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691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distanceKm ≤ 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0116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fare 0 — guards against a same-station or negative-distance query.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743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the concession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0632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Math.round(fare × 0.55), not truncation — avoids systematically under-charging.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794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minimum floor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41148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max(11, discounted) enforces Nepal's real-world minimum student fare even on the shortest slab.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4846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is per leg, not per trip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51663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JourneyLeg is fared independently and summed in JourneyPlan, mirroring how separate operators actually collect fares on a multi-bus trip.</a:t>
            </a:r>
            <a:endParaRPr lang="en-US" sz="1150" dirty="0"/>
          </a:p>
        </p:txBody>
      </p:sp>
      <p:sp>
        <p:nvSpPr>
          <p:cNvPr id="4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Automated, assertion-based testing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TransitAppTest.java — a lightweight custom harness (no JUnit dependency), run via java -cp bin com.kathmandu.transit.Main --test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0756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testDataLoader()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07568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 stations &amp; ≥ 10 routes load; RATNAPARK and SURYABINAYAK exist by id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07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670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testFareCalculator()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7004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fare slabs and their concession amounts match official DoTM figures exactly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015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2644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testStationSearch()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2644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substring, Devanagari script (रत्न), and major-hub filtering all resolve correctly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858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testDirectRouting()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8587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Ratnapark → Budhanilkantha resolves to Sajha Line 1 with zero transfers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902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80160" y="4453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3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testMultiLegTransferRouting()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0" y="445312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Koteshwor → Budhanilkantha finds a FASTEST plan with positive distance, duration &amp; fare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assertTrue(name, condition) logs [PASS]/[FAIL], tallies totals, and calls System.exit(1) on any failure — making the suite CI-friendly for build pipelines.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front-ends, one shared service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desktop_1B33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GUI — Java Swing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BusFinderGUI.java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31912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234440" y="3054096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JComboBox with custom rendering for origin/destination pickers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394106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34440" y="3803904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JRadioButton group bound to the Preference enum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469087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234440" y="455371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font auto-detection (Nirmala UI / Noto Sans Devanagari) so Nepali station names render correctly cross-platform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" y="54406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234440" y="53035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JTabbedPane separates the trip summary from a full route explorer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1737360"/>
            <a:ext cx="5166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20840" y="2103120"/>
            <a:ext cx="731520" cy="73152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icons/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27685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CLI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5895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ConsoleApp.java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720840" y="3191256"/>
            <a:ext cx="82296" cy="82296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6949440" y="3054096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Scanner-driven numbered menu loop — no external CLI library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720840" y="3941064"/>
            <a:ext cx="82296" cy="82296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6949440" y="3803904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JourneyPlan.getStepByStepInstructions() as an ASCII timeline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720840" y="4690872"/>
            <a:ext cx="82296" cy="82296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949440" y="455371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RouteFinderService + FareCalculatorService instances as the GUI — zero duplicated business logic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720840" y="5440680"/>
            <a:ext cx="82296" cy="82296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949440" y="53035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headless (default fallback when GraphicsEnvironment.isHeadless())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E1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2770632"/>
            <a:ext cx="73152" cy="73152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188720" y="26334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hand-curated dataset — not live GPS or GTFS-fed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392424"/>
            <a:ext cx="73152" cy="73152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188720" y="325526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Distances/durations are estimated (Haversine × factor), not measured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4014216"/>
            <a:ext cx="73152" cy="73152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188720" y="38770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traffic, delays, or live vehicle tracking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60120" y="4636008"/>
            <a:ext cx="73152" cy="73152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188720" y="449884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 layer — state resets on every run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60120" y="5257800"/>
            <a:ext cx="73152" cy="73152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188720" y="5120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Single-process desktop app; not exposed as a network service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1B33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icons/chart_1B33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213969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3152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583680" y="277063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6812280" y="26334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 real GTFS feed / government open-data API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0" y="339242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6812280" y="3255264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stations &amp; routes to a database instead of hardcoded loader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83680" y="401421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812280" y="387705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Traffic-aware, time-of-day-sensitive edge weights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83680" y="463600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6812280" y="449884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 to power a mobile app on the same service classes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83680" y="525780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6812280" y="5120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Walking-transfer segments between nearby (not identical) stops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PREP (1/2)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</a:rPr>
              <a:t>Further Clarification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0934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Dijkstra and not BFS?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75104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Edge costs vary (minutes, km, transfer penalty) — BFS only guarantees shortest paths when every edge has equal weight. Dijkstra handles non-negative weighted edges optimally.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529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7249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A*?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0906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A* needs an admissible heuristic that works across time, distance and transfer-count objectives at once. None was readily available, and the graph is small enough (47 stations) that Dijkstra's simplicity wins.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77056"/>
            <a:ext cx="384048" cy="384048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840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avoid infinite loops on cyclic routes (e.g. Ring Road)?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42062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bestCosts map only relaxes a (station, route) state when a strictly lower cost is found; the `current.cost &gt; bestCosts.get(...)` check skips stale queue entries, so a cycle can never re-improve a state indefinitely.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992624"/>
            <a:ext cx="384048" cy="384048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8406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9560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happens if no route exists between two stations?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53218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findRoute() returns Optional.empty() — never null or an exception. Both the GUI and CLI check isPresent() and show a friendly “no route found” message.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Q&amp;A PREP (2/2)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</a:rPr>
              <a:t>Further Clarification</a:t>
            </a:r>
            <a:r>
              <a:rPr lang="en-US" sz="3000" b="1" dirty="0">
                <a:solidFill>
                  <a:srgbClr val="1B33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continued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687068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554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model Dijkstra's state as (Station, Route) instead of just Station?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92808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 remember which bus line the traveller is currently riding, so a transfer penalty is applied only at a genuine line change — not on every edge.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569464"/>
            <a:ext cx="365760" cy="36576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656332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52374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enums for VehicleType and Preference instead of int/String constants?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862072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Compile-time type safety (invalid values are impossible), self-documenting code, and behaviour (getDisplayName(), getTag()) attached directly to each constant — impossible with raw strings.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538728"/>
            <a:ext cx="365760" cy="36576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625596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49300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 equals()/hashCode() only compare the id field?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31336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Station and BusRoute are used as HashMap/Set keys throughout the graph; identity by id (not by every field) lets two objects loaded for the same real-world stop or line be treated as equal, matching real-world semantics.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507992"/>
            <a:ext cx="365760" cy="36576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594860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622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return Collections.unmodifiableList() from getters?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80060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To preserve encapsulation — callers can read a BusRoute's stop list but can't mutate the object's internal state from outside, preventing subtle external bugs.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5477256"/>
            <a:ext cx="365760" cy="365760"/>
          </a:xfrm>
          <a:prstGeom prst="ellipse">
            <a:avLst/>
          </a:prstGeom>
          <a:solidFill>
            <a:srgbClr val="A51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s/ques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5564124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5431536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does the project have zero third-party dependencies?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5769864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 deliberate constraint: it forces every algorithm (graph, Dijkstra, fare rules) and every UI (Swing, console) to be built and understood from the Java Standard Library alone — the point of the exercise.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3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3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64785" y="137160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bus_1B33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17" y="16276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346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657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code, data structures, algorithm, or design decisions.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874520" y="44348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874520" y="4434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Stations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44348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114800" y="4434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 Lines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44348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355080" y="4434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 Strategies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95360" y="443484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13233F"/>
          </a:solidFill>
          <a:ln w="12700">
            <a:solidFill>
              <a:srgbClr val="3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595360" y="4434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Automated Tests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github.com/anush-821/Public-Bus-Route-Finder-Kathmandu-Valley</a:t>
            </a:r>
            <a:endParaRPr lang="en-US" sz="1100" dirty="0"/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2933</Words>
  <Application>Microsoft Office PowerPoint</Application>
  <PresentationFormat>Widescreen</PresentationFormat>
  <Paragraphs>369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Anush Shiwakoti</cp:lastModifiedBy>
  <cp:revision>2</cp:revision>
  <dcterms:created xsi:type="dcterms:W3CDTF">2026-09-11T01:35:43Z</dcterms:created>
  <dcterms:modified xsi:type="dcterms:W3CDTF">2026-09-11T03:14:47Z</dcterms:modified>
</cp:coreProperties>
</file>